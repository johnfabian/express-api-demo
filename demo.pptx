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44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2628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548640"/>
            <a:ext cx="1097280" cy="10972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760" y="5303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Paging, Filtering, and API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Patterns walkthrough with React, TanStack Query, and Express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What we'll 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Tech stack and project layout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Two paging strategies — client-side vs server-side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How TanStack Query caches each request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Server-side filter pipeline (paging + sorting + filtering)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Six match modes on text filters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OpenAPI documentation: YAML (JSDoc) vs Zod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Triangle 6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Server — Express 4, Node 24 (--watch, --env-file)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Client — React 18 + Vite, PrimeReact (DataTable, Dropdown, InputText)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Data fetching — TanStack Query (useQuery, queryKey, keepPreviousData)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OpenAPI — swagger-jsdoc (YAML) and @asteasolutions/zod-to-openapi (Zod)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Triangle 6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457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solidFill>
            <a:srgbClr val="F5F3FF"/>
          </a:solidFill>
          <a:ln w="6350">
            <a:solidFill>
              <a:srgbClr val="A78BFA"/>
            </a:solidFill>
          </a:ln>
        </p:spPr>
        <p:txBody>
          <a:bodyPr wrap="square" lIns="274320" tIns="182880" rIns="182880" bIns="13716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.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├── server/                  # Express API (Node 24, ES modules)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   ├── routes/              # /todos, /products  (Express 4)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   ├── controllers/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   ├── repositories/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   ├── lib/paging.mjs       # parse + buildWhere + paginate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   ├── models/              # YAML JSDoc + Zod schemas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   └── db/                  # init.sql, products.sql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│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└── client/express-client/   # React + Vite + PrimeReact + TanStack Query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  ├── src/pages/           # TodosClientPagingPage, TodosServerPagingPage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  ├── src/services/        # API client wrappers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  └── src/lib/             # Shared filter UI helpers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Triangle 7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4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Two paging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</a:defRPr>
            </a:pPr>
            <a:r>
              <a:rPr dirty="0"/>
              <a:t>Client paging — /</a:t>
            </a:r>
            <a:r>
              <a:rPr dirty="0" err="1"/>
              <a:t>todos</a:t>
            </a:r>
            <a:r>
              <a:rPr dirty="0"/>
              <a:t>-client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/>
              <a:t>Fetches the full list once; browser handles paging, sorting, column-filtering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/>
              <a:t>Global search hits the server with ?q=... (full-dataset search)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/>
              <a:t>Pros: instant interactions after load; simple to implement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/>
              <a:t>Cons: initial fetch grows with the dataset; not viable for </a:t>
            </a:r>
            <a:r>
              <a:rPr lang="en-US" dirty="0"/>
              <a:t>large</a:t>
            </a:r>
            <a:r>
              <a:rPr dirty="0"/>
              <a:t> </a:t>
            </a:r>
            <a:r>
              <a:t>prod</a:t>
            </a:r>
            <a:r>
              <a:rPr lang="en-US"/>
              <a:t>uction</a:t>
            </a:r>
            <a:r>
              <a:t> </a:t>
            </a:r>
            <a:r>
              <a:rPr dirty="0"/>
              <a:t>volume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</a:defRPr>
            </a:pPr>
            <a:r>
              <a:rPr dirty="0"/>
              <a:t>Server paging — /</a:t>
            </a:r>
            <a:r>
              <a:rPr dirty="0" err="1"/>
              <a:t>todos</a:t>
            </a:r>
            <a:r>
              <a:rPr dirty="0"/>
              <a:t>-server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 err="1"/>
              <a:t>DataTable</a:t>
            </a:r>
            <a:r>
              <a:rPr dirty="0"/>
              <a:t> in lazy mode; each new page/sort/filter/search → one request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 err="1"/>
              <a:t>TanStack</a:t>
            </a:r>
            <a:r>
              <a:rPr dirty="0"/>
              <a:t> Query caches repeats; revisits are served from cache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/>
              <a:t>Pros: scales to millions of rows; always fresh; low client memory</a:t>
            </a:r>
          </a:p>
          <a:p>
            <a:pPr lvl="1">
              <a:spcAft>
                <a:spcPts val="800"/>
              </a:spcAft>
              <a:defRPr sz="1300">
                <a:solidFill>
                  <a:srgbClr val="556E80"/>
                </a:solidFill>
              </a:defRPr>
            </a:pPr>
            <a:r>
              <a:rPr dirty="0"/>
              <a:t>Cons: more upfront wiring — server must support paging + filter + sort params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Triangle 6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5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Caching with TanStack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6E80"/>
                </a:solidFill>
              </a:defRPr>
            </a:pPr>
            <a:r>
              <a:t>Request parameters fold into the queryKey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731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1737360"/>
          </a:xfrm>
          <a:prstGeom prst="rect">
            <a:avLst/>
          </a:prstGeom>
          <a:solidFill>
            <a:srgbClr val="F5F3FF"/>
          </a:solidFill>
          <a:ln w="6350">
            <a:solidFill>
              <a:srgbClr val="A78BFA"/>
            </a:solidFill>
          </a:ln>
        </p:spPr>
        <p:txBody>
          <a:bodyPr wrap="square" lIns="274320" tIns="182880" rIns="182880" bIns="13716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// Server-paging page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useQuery({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queryKey: ['todos', 'server-paging',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  { page, rows, sortField, order, filters, q }],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queryFn: () =&gt; getTodosPaged(...),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  placeholderData: keepPreviousData,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useQuery fetches and caches by queryKey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While any component subscribes → entry is "active"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All subscribers unmount → entry becomes "inactive" (but stays cached)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gcTime (cacheTime) timer starts; after 5 min of inactivity → entry is dropped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Re-subscribe within 5 min → instant render from cache, background refetch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Per-combination cache → revisits are instant; stale-while-revalidate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keepPreviousData → no flicker between pages while the next batch loads</a:t>
            </a:r>
          </a:p>
          <a:p>
            <a:pPr>
              <a:spcAft>
                <a:spcPts val="800"/>
              </a:spcAft>
              <a:defRPr sz="1400">
                <a:solidFill>
                  <a:srgbClr val="1B2631"/>
                </a:solidFill>
              </a:defRPr>
            </a:pPr>
            <a:r>
              <a:t>Local interactions on /todos-client don't refetch (only q is in its queryKey)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Triangle 9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6 /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Server-side filter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6E80"/>
                </a:solidFill>
              </a:defRPr>
            </a:pPr>
            <a:r>
              <a:t>server/lib/paging.mjs — composable, reused by todos and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parsePagingQuery — validates page, pageSize, sortField, sortOrder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parseFilterQuery — validates per-field filters and an optional global q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buildWhere — composes a safe SQL WHERE fragment with postgres.js tagged templates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paginate — combines the above; returns { items, total, page, pageSize, totalPages }</a:t>
            </a:r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B2631"/>
                </a:solidFill>
              </a:defRPr>
            </a:pPr>
            <a:r>
              <a:t>Same pipeline drives /todos and /products — only the FILTER_FIELDS map differs per 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Triangle 7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7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Six match modes on text filters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6E80"/>
                </a:solidFill>
              </a:defRPr>
            </a:pPr>
            <a:r>
              <a:t>Sent on the wire as &lt;field&gt;=value &amp; &lt;field&gt;MatchMode=mode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1280160"/>
          </a:xfrm>
          <a:prstGeom prst="rect">
            <a:avLst/>
          </a:prstGeom>
          <a:solidFill>
            <a:srgbClr val="F5F3FF"/>
          </a:solidFill>
          <a:ln w="6350">
            <a:solidFill>
              <a:srgbClr val="A78BFA"/>
            </a:solidFill>
          </a:ln>
        </p:spPr>
        <p:txBody>
          <a:bodyPr wrap="square" lIns="274320" tIns="182880" rIns="182880" bIns="13716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GET /todos?title=Task%2099&amp;titleMatchMode=startsWith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GET /products?name=wireless&amp;nameMatchMode=contains</a:t>
            </a:r>
          </a:p>
          <a:p>
            <a:pPr>
              <a:spcAft>
                <a:spcPts val="200"/>
              </a:spcAft>
              <a:defRPr sz="1600">
                <a:solidFill>
                  <a:srgbClr val="1B2631"/>
                </a:solidFill>
                <a:latin typeface="Consolas"/>
              </a:defRPr>
            </a:pPr>
            <a:r>
              <a:t>GET /products?category=Books&amp;categoryMatchMode=equals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contains          ILIKE '%value%'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notContains       NOT ILIKE '%value%'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startsWith        ILIKE 'value%'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endsWith          ILIKE '%value'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equals            ILIKE 'value'   (case-insensitive)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notEquals         NOT ILIKE 'value'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Triangle 9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8 /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OpenAPI: two styles, one Swagger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Todos — YAML in JSDoc comments (server/models/todos.model.mjs)</a:t>
            </a:r>
          </a:p>
          <a:p>
            <a:pPr lvl="1">
              <a:spcAft>
                <a:spcPts val="800"/>
              </a:spcAft>
              <a:defRPr sz="1400">
                <a:solidFill>
                  <a:srgbClr val="556E80"/>
                </a:solidFill>
              </a:defRPr>
            </a:pPr>
            <a:r>
              <a:t>Pure text inside /** */ blocks. Indentation matters; one wrong space silently breaks the spec.</a:t>
            </a:r>
          </a:p>
          <a:p>
            <a:pPr lvl="1">
              <a:spcAft>
                <a:spcPts val="800"/>
              </a:spcAft>
              <a:defRPr sz="1400">
                <a:solidFill>
                  <a:srgbClr val="556E80"/>
                </a:solidFill>
              </a:defRPr>
            </a:pPr>
            <a:r>
              <a:t>Editor offers no help — typos in property names just disappear from the output.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Products — Zod schemas via @asteasolutions/zod-to-openapi</a:t>
            </a:r>
          </a:p>
          <a:p>
            <a:pPr lvl="1">
              <a:spcAft>
                <a:spcPts val="800"/>
              </a:spcAft>
              <a:defRPr sz="1400">
                <a:solidFill>
                  <a:srgbClr val="556E80"/>
                </a:solidFill>
              </a:defRPr>
            </a:pPr>
            <a:r>
              <a:t>Plain JS objects. No indentation rules. Your existing linter and editor catch typos.</a:t>
            </a:r>
          </a:p>
          <a:p>
            <a:pPr lvl="1">
              <a:spcAft>
                <a:spcPts val="800"/>
              </a:spcAft>
              <a:defRPr sz="1400">
                <a:solidFill>
                  <a:srgbClr val="556E80"/>
                </a:solidFill>
              </a:defRPr>
            </a:pPr>
            <a:r>
              <a:t>Reuse: one MatchMode = z.enum([...]) shared across every filter field.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</a:defRPr>
            </a:pPr>
            <a:r>
              <a:t>Both feed the same Swagger UI — diff is in how comfortable the source is to read and write.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Triangle 6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9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2631"/>
                </a:solidFill>
              </a:defRPr>
            </a:pPr>
            <a:r>
              <a:t>Entity model — YAML vs Zod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37360" y="1033271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6E80"/>
                </a:solidFill>
              </a:defRPr>
            </a:pPr>
            <a:r>
              <a:t>Defining the Todo / Product object: how comfortable is the source to read and write?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todos.model.mjs — YAML in JSDoc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577840" cy="4389120"/>
          </a:xfrm>
          <a:prstGeom prst="rect">
            <a:avLst/>
          </a:prstGeom>
          <a:solidFill>
            <a:srgbClr val="F5F3FF"/>
          </a:solidFill>
          <a:ln w="6350">
            <a:solidFill>
              <a:srgbClr val="A78BFA"/>
            </a:solidFill>
          </a:ln>
        </p:spPr>
        <p:txBody>
          <a:bodyPr wrap="square" lIns="182880" tIns="137160" rIns="137160" bIns="91440">
            <a:spAutoFit/>
          </a:bodyPr>
          <a:lstStyle/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/**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@openapi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components: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schemas: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Todo: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type: object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properties: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id:       { type: integer }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title:    { type: string }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status:   { type: string }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priority: { type: string }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dueDate:  { type: string }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tags:     { type: string }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example: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id: 1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title: "Task 1"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         status: In-Progress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*/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// YAML inside a comment.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// Indentation matters; editor doesn't help.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product.model.mjs — Zod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5577840" cy="4389120"/>
          </a:xfrm>
          <a:prstGeom prst="rect">
            <a:avLst/>
          </a:prstGeom>
          <a:solidFill>
            <a:srgbClr val="F5F3FF"/>
          </a:solidFill>
          <a:ln w="6350">
            <a:solidFill>
              <a:srgbClr val="A78BFA"/>
            </a:solidFill>
          </a:ln>
        </p:spPr>
        <p:txBody>
          <a:bodyPr wrap="square" lIns="182880" tIns="137160" rIns="137160" bIns="91440">
            <a:spAutoFit/>
          </a:bodyPr>
          <a:lstStyle/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import { z } from 'zod';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export const Product = z.object({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id:          z.number().int(),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name:        z.string(),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description: z.string(),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price:       z.number(),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stock:       z.number().int(),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category:    z.string(),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}).openapi('Product', {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example: { id: 1, name: 'Wireless Earbuds',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             price: 19.99, stock: 42 },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});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// Plain JS object.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// Linter/editor catch typos.</a:t>
            </a:r>
          </a:p>
          <a:p>
            <a:pPr>
              <a:defRPr sz="1200">
                <a:solidFill>
                  <a:srgbClr val="1B2631"/>
                </a:solidFill>
                <a:latin typeface="Consolas"/>
              </a:defRPr>
            </a:pPr>
            <a:r>
              <a:t>// Easy to read, easy to write.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Triangle 10"/>
          <p:cNvSpPr/>
          <p:nvPr/>
        </p:nvSpPr>
        <p:spPr>
          <a:xfrm rot="5400000">
            <a:off x="11338560" y="0"/>
            <a:ext cx="850392" cy="640080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E80"/>
                </a:solidFill>
              </a:defRPr>
            </a:pPr>
            <a:r>
              <a:t>Paging, Filtering, and API Docs  ·  10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64240" cy="18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2628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4937760"/>
            <a:ext cx="1097280" cy="10972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760" y="64008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http://localhost:5173    •    http://localhost:3000/swagger-ui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1181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Fabian</cp:lastModifiedBy>
  <cp:revision>3</cp:revision>
  <dcterms:created xsi:type="dcterms:W3CDTF">2013-01-27T09:14:16Z</dcterms:created>
  <dcterms:modified xsi:type="dcterms:W3CDTF">2026-05-07T18:38:25Z</dcterms:modified>
  <cp:category/>
</cp:coreProperties>
</file>