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4028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2628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548640"/>
            <a:ext cx="1097280" cy="10972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5760" y="530352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Express API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Paging, Filtering, and OpenAPI patterns with React + TanStack Query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What we'll 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Tech stack and project layout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Two paging strategies — client-side vs server-side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How TanStack Query caches each request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Server-side filter pipeline (paging + sorting + filtering)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Six match modes on text filters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OpenAPI documentation: YAML (JSDoc) vs Zod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Tech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Server — Express 4, Node 24 (--watch, --env-file)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Client — React 18 + Vite, PrimeReact (DataTable, Dropdown, InputText)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Data fetching — TanStack Query (useQuery, queryKey, keepPreviousData)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OpenAPI — swagger-jsdoc (YAML) and @asteasolutions/zod-to-openapi (Zod)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3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Project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73152" cy="4572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solidFill>
            <a:srgbClr val="F5F3FF"/>
          </a:solidFill>
          <a:ln w="6350">
            <a:solidFill>
              <a:srgbClr val="A78BFA"/>
            </a:solidFill>
          </a:ln>
        </p:spPr>
        <p:txBody>
          <a:bodyPr wrap="square" lIns="274320" rIns="182880" tIns="182880" bIns="137160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.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├── server/                  # Express API (Node 24, ES modules)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├── routes/              # /todos, /products  (Express 4)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├── controllers/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├── repositories/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├── lib/paging.mjs       # parse + buildWhere + paginate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├── models/              # YAML JSDoc + Zod schemas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└── db/                  # init.sql, products.sql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└── client/express-client/   # React + Vite + PrimeReact + TanStack Query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  ├── src/pages/           # TodosClientPagingPage, TodosServerPagingPage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  ├── src/services/        # API client wrappers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  └── src/lib/             # Shared filter UI helpers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Triangle 7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4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Two paging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Client paging — /todos-client</a:t>
            </a:r>
          </a:p>
          <a:p>
            <a:pPr lvl="1">
              <a:spcAft>
                <a:spcPts val="800"/>
              </a:spcAft>
              <a:defRPr sz="1600">
                <a:solidFill>
                  <a:srgbClr val="556E80"/>
                </a:solidFill>
              </a:defRPr>
            </a:pPr>
            <a:r>
              <a:t>Fetches the full list once</a:t>
            </a:r>
          </a:p>
          <a:p>
            <a:pPr lvl="1">
              <a:spcAft>
                <a:spcPts val="800"/>
              </a:spcAft>
              <a:defRPr sz="1600">
                <a:solidFill>
                  <a:srgbClr val="556E80"/>
                </a:solidFill>
              </a:defRPr>
            </a:pPr>
            <a:r>
              <a:t>PrimeReact handles paging, sorting, and column-filtering in the browser</a:t>
            </a:r>
          </a:p>
          <a:p>
            <a:pPr lvl="1">
              <a:spcAft>
                <a:spcPts val="800"/>
              </a:spcAft>
              <a:defRPr sz="1600">
                <a:solidFill>
                  <a:srgbClr val="556E80"/>
                </a:solidFill>
              </a:defRPr>
            </a:pPr>
            <a:r>
              <a:t>Global search hits the server with ?q=... (full-dataset search)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Server paging — /todos-server</a:t>
            </a:r>
          </a:p>
          <a:p>
            <a:pPr lvl="1">
              <a:spcAft>
                <a:spcPts val="800"/>
              </a:spcAft>
              <a:defRPr sz="1600">
                <a:solidFill>
                  <a:srgbClr val="556E80"/>
                </a:solidFill>
              </a:defRPr>
            </a:pPr>
            <a:r>
              <a:t>DataTable runs in lazy mode</a:t>
            </a:r>
          </a:p>
          <a:p>
            <a:pPr lvl="1">
              <a:spcAft>
                <a:spcPts val="800"/>
              </a:spcAft>
              <a:defRPr sz="1600">
                <a:solidFill>
                  <a:srgbClr val="556E80"/>
                </a:solidFill>
              </a:defRPr>
            </a:pPr>
            <a:r>
              <a:t>Each new combination of page, sort, filter, search → one server request</a:t>
            </a:r>
          </a:p>
          <a:p>
            <a:pPr lvl="1">
              <a:spcAft>
                <a:spcPts val="800"/>
              </a:spcAft>
              <a:defRPr sz="1600">
                <a:solidFill>
                  <a:srgbClr val="556E80"/>
                </a:solidFill>
              </a:defRPr>
            </a:pPr>
            <a:r>
              <a:t>Repeats served instantly from TanStack Query's cache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5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Caching with TanStack Query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56E80"/>
                </a:solidFill>
              </a:defRPr>
            </a:pPr>
            <a:r>
              <a:t>Request parameters fold into the queryKey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73152" cy="2286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0972800" cy="2286000"/>
          </a:xfrm>
          <a:prstGeom prst="rect">
            <a:avLst/>
          </a:prstGeom>
          <a:solidFill>
            <a:srgbClr val="F5F3FF"/>
          </a:solidFill>
          <a:ln w="6350">
            <a:solidFill>
              <a:srgbClr val="A78BFA"/>
            </a:solidFill>
          </a:ln>
        </p:spPr>
        <p:txBody>
          <a:bodyPr wrap="square" lIns="274320" rIns="182880" tIns="182880" bIns="137160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// Server-paging page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useQuery({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queryKey: ['todos', 'server-paging',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  { page, rows, sortField, order, filters, q }],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queryFn: () =&gt; getTodosPaged(...),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placeholderData: keepPreviousData,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Per-combination cache → revisits are instant; stale-while-revalidate in the background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keepPreviousData → no flicker between pages while the next batch loads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Local interactions on /todos don't refetch (only q is in its queryKey)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Default gcTime (5 min) drops unused entries automatically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Triangle 9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6 /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Server-side filter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56E80"/>
                </a:solidFill>
              </a:defRPr>
            </a:pPr>
            <a:r>
              <a:t>server/lib/paging.mjs — composable, reused by todos and products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parsePagingQuery — validates page, pageSize, sortField, sortOrder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parseFilterQuery — validates per-field filters and an optional global q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buildWhere — composes a safe SQL WHERE fragment with postgres.js tagged templates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paginate — combines the above; returns { items, total, page, pageSize, totalPages }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Same pipeline drives /todos and /products — only the FILTER_FIELDS map differs per controller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Triangle 7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7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Six match modes on text filters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56E80"/>
                </a:solidFill>
              </a:defRPr>
            </a:pPr>
            <a:r>
              <a:t>Sent on the wire as &lt;field&gt;=value &amp; &lt;field&gt;MatchMode=mode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73152" cy="1280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0972800" cy="1280160"/>
          </a:xfrm>
          <a:prstGeom prst="rect">
            <a:avLst/>
          </a:prstGeom>
          <a:solidFill>
            <a:srgbClr val="F5F3FF"/>
          </a:solidFill>
          <a:ln w="6350">
            <a:solidFill>
              <a:srgbClr val="A78BFA"/>
            </a:solidFill>
          </a:ln>
        </p:spPr>
        <p:txBody>
          <a:bodyPr wrap="square" lIns="274320" rIns="182880" tIns="182880" bIns="137160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GET /todos?title=Task%2099&amp;titleMatchMode=startsWith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GET /products?name=wireless&amp;nameMatchMode=contains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GET /products?category=Books&amp;categoryMatchMode=equals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contains          ILIKE '%value%'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notContains       NOT ILIKE '%value%'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startsWith        ILIKE 'value%'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endsWith          ILIKE '%value'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equals            ILIKE 'value'   (case-insensitive)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notEquals         NOT ILIKE 'value'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Triangle 9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8 /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OpenAPI: two styles, one Swagger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Todos — YAML in JSDoc comments (server/models/todos.model.mjs)</a:t>
            </a:r>
          </a:p>
          <a:p>
            <a:pPr lvl="1">
              <a:spcAft>
                <a:spcPts val="800"/>
              </a:spcAft>
              <a:defRPr sz="1400">
                <a:solidFill>
                  <a:srgbClr val="556E80"/>
                </a:solidFill>
              </a:defRPr>
            </a:pPr>
            <a:r>
              <a:t>Pure text inside /** */ blocks. Indentation matters; one wrong space silently breaks the spec.</a:t>
            </a:r>
          </a:p>
          <a:p>
            <a:pPr lvl="1">
              <a:spcAft>
                <a:spcPts val="800"/>
              </a:spcAft>
              <a:defRPr sz="1400">
                <a:solidFill>
                  <a:srgbClr val="556E80"/>
                </a:solidFill>
              </a:defRPr>
            </a:pPr>
            <a:r>
              <a:t>Editor offers no help — typos in property names just disappear from the output.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Products — Zod schemas via @asteasolutions/zod-to-openapi</a:t>
            </a:r>
          </a:p>
          <a:p>
            <a:pPr lvl="1">
              <a:spcAft>
                <a:spcPts val="800"/>
              </a:spcAft>
              <a:defRPr sz="1400">
                <a:solidFill>
                  <a:srgbClr val="556E80"/>
                </a:solidFill>
              </a:defRPr>
            </a:pPr>
            <a:r>
              <a:t>Plain JS objects. No indentation rules. Your existing linter and editor catch typos.</a:t>
            </a:r>
          </a:p>
          <a:p>
            <a:pPr lvl="1">
              <a:spcAft>
                <a:spcPts val="800"/>
              </a:spcAft>
              <a:defRPr sz="1400">
                <a:solidFill>
                  <a:srgbClr val="556E80"/>
                </a:solidFill>
              </a:defRPr>
            </a:pPr>
            <a:r>
              <a:t>Reuse: one MatchMode = z.enum([...]) shared across every filter field.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Both feed the same Swagger UI — diff is in how comfortable the source is to read and write.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9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Entity model — YAML vs Zod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56E80"/>
                </a:solidFill>
              </a:defRPr>
            </a:pPr>
            <a:r>
              <a:t>Defining the Todo / Product object: how comfortable is the source to read and write?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C1D95"/>
                </a:solidFill>
              </a:defRPr>
            </a:pPr>
            <a:r>
              <a:t>todos.model.mjs — YAML in JSDoc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577840" cy="4389120"/>
          </a:xfrm>
          <a:prstGeom prst="rect">
            <a:avLst/>
          </a:prstGeom>
          <a:solidFill>
            <a:srgbClr val="F5F3FF"/>
          </a:solidFill>
          <a:ln w="6350">
            <a:solidFill>
              <a:srgbClr val="A78BFA"/>
            </a:solidFill>
          </a:ln>
        </p:spPr>
        <p:txBody>
          <a:bodyPr wrap="square" lIns="182880" rIns="137160" tIns="137160" bIns="91440">
            <a:spAutoFit/>
          </a:bodyPr>
          <a:lstStyle/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/**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@openapi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components: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schemas: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Todo: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type: object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properties: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id:       { type: integer }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title:    { type: string }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status:   { type: string }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priority: { type: string }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dueDate:  { type: string }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tags:     { type: string }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example: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id: 1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title: "Task 1"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status: In-Progress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*/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// YAML inside a comment.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// Indentation matters; editor doesn't help.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783080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C1D95"/>
                </a:solidFill>
              </a:defRPr>
            </a:pPr>
            <a:r>
              <a:t>product.model.mjs — Zod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03120"/>
            <a:ext cx="5577840" cy="4389120"/>
          </a:xfrm>
          <a:prstGeom prst="rect">
            <a:avLst/>
          </a:prstGeom>
          <a:solidFill>
            <a:srgbClr val="F5F3FF"/>
          </a:solidFill>
          <a:ln w="6350">
            <a:solidFill>
              <a:srgbClr val="A78BFA"/>
            </a:solidFill>
          </a:ln>
        </p:spPr>
        <p:txBody>
          <a:bodyPr wrap="square" lIns="182880" rIns="137160" tIns="137160" bIns="91440">
            <a:spAutoFit/>
          </a:bodyPr>
          <a:lstStyle/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import { z } from 'zod';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export const Product = z.object({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 id:          z.number().int(),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 name:        z.string(),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 description: z.string(),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 price:       z.number(),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 stock:       z.number().int(),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 category:    z.string(),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}).openapi('Product', {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 example: { id: 1, name: 'Wireless Earbuds',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            price: 19.99, stock: 42 },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});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// Plain JS object.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// Linter/editor catch typos.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// Easy to read, easy to write.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Triangle 10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10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4028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2628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4937760"/>
            <a:ext cx="1097280" cy="10972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5760" y="64008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400" b="1">
                <a:solidFill>
                  <a:srgbClr val="FFFFFF"/>
                </a:solidFill>
              </a:defRPr>
            </a:pPr>
            <a:r>
              <a:t>Live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http://localhost:5173    •    http://localhost:3000/swagger-ui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